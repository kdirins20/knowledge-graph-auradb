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rsraksta sla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4B0542A-869C-3B78-DC18-39852C842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Apakšvirsraksts 2">
            <a:extLst>
              <a:ext uri="{FF2B5EF4-FFF2-40B4-BE49-F238E27FC236}">
                <a16:creationId xmlns:a16="http://schemas.microsoft.com/office/drawing/2014/main" id="{50A77336-340A-378C-A1F6-DC250B635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v-LV"/>
              <a:t>Noklikšķiniet, lai rediģētu šablona apakšvirsraksta stilu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DC783A68-6734-68EF-C1BC-DCBB5A91F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A618198C-8726-11B4-D9BF-8FA51977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26158F6D-62BF-D493-7C26-738C9DDC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22581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rsraksts un sat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466401F-F587-C8CC-18B6-8DC277843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DBF3A2EA-157D-2B9D-EC66-5880D2654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EADF2A41-0641-AB9E-AA5B-141E684C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2A0613F2-2C8E-C9B6-5652-CD71F7A0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B9AD0A03-E316-7CBE-7CA6-2D7DD066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500357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adaļas galv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335B254A-3A41-BEC9-7612-241F5812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>
            <a:extLst>
              <a:ext uri="{FF2B5EF4-FFF2-40B4-BE49-F238E27FC236}">
                <a16:creationId xmlns:a16="http://schemas.microsoft.com/office/drawing/2014/main" id="{9B7C412F-2256-A66A-8A4D-8C3EC6E97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v-LV"/>
              <a:t>Noklikšķiniet, lai rediģētu šablona teksta stilus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E24A532A-27D2-1E20-F291-5C1FB9724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A1D40FE8-4495-D6B3-6CEF-2B6372805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8AA39EF8-00B6-1C6C-ECAD-434B9F9F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44670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vi satura blo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0B387C6-854B-F0D5-8A05-A6822CFD9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DF53F342-0CDA-3D65-C1F8-10B81C85B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Satura vietturis 3">
            <a:extLst>
              <a:ext uri="{FF2B5EF4-FFF2-40B4-BE49-F238E27FC236}">
                <a16:creationId xmlns:a16="http://schemas.microsoft.com/office/drawing/2014/main" id="{C84B3810-E12D-0337-DFC4-C24B10335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5" name="Datuma vietturis 4">
            <a:extLst>
              <a:ext uri="{FF2B5EF4-FFF2-40B4-BE49-F238E27FC236}">
                <a16:creationId xmlns:a16="http://schemas.microsoft.com/office/drawing/2014/main" id="{23A3C313-F8BA-9212-A321-613BBB7B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6" name="Kājenes vietturis 5">
            <a:extLst>
              <a:ext uri="{FF2B5EF4-FFF2-40B4-BE49-F238E27FC236}">
                <a16:creationId xmlns:a16="http://schemas.microsoft.com/office/drawing/2014/main" id="{18302D8A-F60A-F426-0036-F40295FA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>
            <a:extLst>
              <a:ext uri="{FF2B5EF4-FFF2-40B4-BE49-F238E27FC236}">
                <a16:creationId xmlns:a16="http://schemas.microsoft.com/office/drawing/2014/main" id="{9BB757A8-7DF9-DE04-A47F-F7B95671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69844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līdzināj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F1DB1F0D-D2F5-A529-5779-E8719B2C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>
            <a:extLst>
              <a:ext uri="{FF2B5EF4-FFF2-40B4-BE49-F238E27FC236}">
                <a16:creationId xmlns:a16="http://schemas.microsoft.com/office/drawing/2014/main" id="{4AA48DE6-9C8E-BF12-3EE3-54A54A7F6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/>
              <a:t>Noklikšķiniet, lai rediģētu šablona teksta stilus</a:t>
            </a:r>
          </a:p>
        </p:txBody>
      </p:sp>
      <p:sp>
        <p:nvSpPr>
          <p:cNvPr id="4" name="Satura vietturis 3">
            <a:extLst>
              <a:ext uri="{FF2B5EF4-FFF2-40B4-BE49-F238E27FC236}">
                <a16:creationId xmlns:a16="http://schemas.microsoft.com/office/drawing/2014/main" id="{2EEBBCBC-978E-82A1-07F0-2CFF00920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5" name="Teksta vietturis 4">
            <a:extLst>
              <a:ext uri="{FF2B5EF4-FFF2-40B4-BE49-F238E27FC236}">
                <a16:creationId xmlns:a16="http://schemas.microsoft.com/office/drawing/2014/main" id="{D6110D95-9F58-C892-C1F9-2DA575F9E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/>
              <a:t>Noklikšķiniet, lai rediģētu šablona teksta stilus</a:t>
            </a:r>
          </a:p>
        </p:txBody>
      </p:sp>
      <p:sp>
        <p:nvSpPr>
          <p:cNvPr id="6" name="Satura vietturis 5">
            <a:extLst>
              <a:ext uri="{FF2B5EF4-FFF2-40B4-BE49-F238E27FC236}">
                <a16:creationId xmlns:a16="http://schemas.microsoft.com/office/drawing/2014/main" id="{ECCA36D3-FAC5-FDDD-0203-2FDC35A9DC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7" name="Datuma vietturis 6">
            <a:extLst>
              <a:ext uri="{FF2B5EF4-FFF2-40B4-BE49-F238E27FC236}">
                <a16:creationId xmlns:a16="http://schemas.microsoft.com/office/drawing/2014/main" id="{C77E677E-F761-FA66-7D42-38380CA1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8" name="Kājenes vietturis 7">
            <a:extLst>
              <a:ext uri="{FF2B5EF4-FFF2-40B4-BE49-F238E27FC236}">
                <a16:creationId xmlns:a16="http://schemas.microsoft.com/office/drawing/2014/main" id="{6CCD61C2-DC41-993C-4C88-DF77624CC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aida numura vietturis 8">
            <a:extLst>
              <a:ext uri="{FF2B5EF4-FFF2-40B4-BE49-F238E27FC236}">
                <a16:creationId xmlns:a16="http://schemas.microsoft.com/office/drawing/2014/main" id="{8CE4282A-A374-C23B-2330-B9881420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95238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ai virsra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3ED9427-0A50-3185-48DB-3FBD51C7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Datuma vietturis 2">
            <a:extLst>
              <a:ext uri="{FF2B5EF4-FFF2-40B4-BE49-F238E27FC236}">
                <a16:creationId xmlns:a16="http://schemas.microsoft.com/office/drawing/2014/main" id="{81FA8578-247F-E1B6-3A3B-A2A550B90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4" name="Kājenes vietturis 3">
            <a:extLst>
              <a:ext uri="{FF2B5EF4-FFF2-40B4-BE49-F238E27FC236}">
                <a16:creationId xmlns:a16="http://schemas.microsoft.com/office/drawing/2014/main" id="{FC354B8F-8396-71E2-A7B5-C9DFBEC40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aida numura vietturis 4">
            <a:extLst>
              <a:ext uri="{FF2B5EF4-FFF2-40B4-BE49-F238E27FC236}">
                <a16:creationId xmlns:a16="http://schemas.microsoft.com/office/drawing/2014/main" id="{3A801699-0041-B5C1-8FCF-5985CA7F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01150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k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a vietturis 1">
            <a:extLst>
              <a:ext uri="{FF2B5EF4-FFF2-40B4-BE49-F238E27FC236}">
                <a16:creationId xmlns:a16="http://schemas.microsoft.com/office/drawing/2014/main" id="{F4119998-5E42-6804-CFD8-3EDEF66E0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3" name="Kājenes vietturis 2">
            <a:extLst>
              <a:ext uri="{FF2B5EF4-FFF2-40B4-BE49-F238E27FC236}">
                <a16:creationId xmlns:a16="http://schemas.microsoft.com/office/drawing/2014/main" id="{2FBEB7A2-B00E-7D9B-1A59-F1DD5B14E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F226B593-F469-F7A8-032A-A73A4BF9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206516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tur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D8B7685F-258A-8A83-F522-48197CD3B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0183222C-50BE-D19D-1F2A-BC845CA87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Teksta vietturis 3">
            <a:extLst>
              <a:ext uri="{FF2B5EF4-FFF2-40B4-BE49-F238E27FC236}">
                <a16:creationId xmlns:a16="http://schemas.microsoft.com/office/drawing/2014/main" id="{A6008746-012F-2139-266A-C85D2435C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Noklikšķiniet, lai rediģētu šablona teksta stilus</a:t>
            </a:r>
          </a:p>
        </p:txBody>
      </p:sp>
      <p:sp>
        <p:nvSpPr>
          <p:cNvPr id="5" name="Datuma vietturis 4">
            <a:extLst>
              <a:ext uri="{FF2B5EF4-FFF2-40B4-BE49-F238E27FC236}">
                <a16:creationId xmlns:a16="http://schemas.microsoft.com/office/drawing/2014/main" id="{2FCF9E7A-D06A-3792-AEC4-41F46921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6" name="Kājenes vietturis 5">
            <a:extLst>
              <a:ext uri="{FF2B5EF4-FFF2-40B4-BE49-F238E27FC236}">
                <a16:creationId xmlns:a16="http://schemas.microsoft.com/office/drawing/2014/main" id="{5E596D82-C720-159F-17C0-E44C9CB6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>
            <a:extLst>
              <a:ext uri="{FF2B5EF4-FFF2-40B4-BE49-F238E27FC236}">
                <a16:creationId xmlns:a16="http://schemas.microsoft.com/office/drawing/2014/main" id="{FD83F6F1-7A38-EB1A-275C-67BA6F90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01373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ttēl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17DD796-DD81-599F-732C-29D3F543F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Attēla vietturis 2">
            <a:extLst>
              <a:ext uri="{FF2B5EF4-FFF2-40B4-BE49-F238E27FC236}">
                <a16:creationId xmlns:a16="http://schemas.microsoft.com/office/drawing/2014/main" id="{94C332E8-BB3C-42B7-B79B-B2BD0146D78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ksta vietturis 3">
            <a:extLst>
              <a:ext uri="{FF2B5EF4-FFF2-40B4-BE49-F238E27FC236}">
                <a16:creationId xmlns:a16="http://schemas.microsoft.com/office/drawing/2014/main" id="{A568B587-DF9D-56CA-A4E7-C852B7D7F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Noklikšķiniet, lai rediģētu šablona teksta stilus</a:t>
            </a:r>
          </a:p>
        </p:txBody>
      </p:sp>
      <p:sp>
        <p:nvSpPr>
          <p:cNvPr id="5" name="Datuma vietturis 4">
            <a:extLst>
              <a:ext uri="{FF2B5EF4-FFF2-40B4-BE49-F238E27FC236}">
                <a16:creationId xmlns:a16="http://schemas.microsoft.com/office/drawing/2014/main" id="{66BBBB4E-682F-4D09-DE64-4FBF358D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6" name="Kājenes vietturis 5">
            <a:extLst>
              <a:ext uri="{FF2B5EF4-FFF2-40B4-BE49-F238E27FC236}">
                <a16:creationId xmlns:a16="http://schemas.microsoft.com/office/drawing/2014/main" id="{AE864C6D-23E3-FFE7-1F07-2CE56EF5C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>
            <a:extLst>
              <a:ext uri="{FF2B5EF4-FFF2-40B4-BE49-F238E27FC236}">
                <a16:creationId xmlns:a16="http://schemas.microsoft.com/office/drawing/2014/main" id="{DFC7B416-53B5-F0AF-1758-C77BFD39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48966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irsraksts un vertikāls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EF1BAC3-9892-B7EC-067F-9FF87EF8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Vertikāls teksta vietturis 2">
            <a:extLst>
              <a:ext uri="{FF2B5EF4-FFF2-40B4-BE49-F238E27FC236}">
                <a16:creationId xmlns:a16="http://schemas.microsoft.com/office/drawing/2014/main" id="{2E9C3828-ABC9-FC0D-3E1D-775B5299D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8AA1E960-6CA6-6A85-970C-4E808880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22A9213A-379B-4381-EF24-BFCBE248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08D2F0BD-B412-A2DC-9352-DB6D8CC5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02688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āls virsraksts un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āls virsraksts 1">
            <a:extLst>
              <a:ext uri="{FF2B5EF4-FFF2-40B4-BE49-F238E27FC236}">
                <a16:creationId xmlns:a16="http://schemas.microsoft.com/office/drawing/2014/main" id="{71A5FB82-6CE1-71CB-07F5-9CA4A97F8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Vertikāls teksta vietturis 2">
            <a:extLst>
              <a:ext uri="{FF2B5EF4-FFF2-40B4-BE49-F238E27FC236}">
                <a16:creationId xmlns:a16="http://schemas.microsoft.com/office/drawing/2014/main" id="{E5AE7018-7806-3EF7-B382-CE519392A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5418BB19-339D-360A-0B04-4F99187F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43F51635-3C3D-AF09-4F70-036F172D8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66D1BE1F-D7D4-80E3-CE8C-C1F454353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44496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a vietturis 1">
            <a:extLst>
              <a:ext uri="{FF2B5EF4-FFF2-40B4-BE49-F238E27FC236}">
                <a16:creationId xmlns:a16="http://schemas.microsoft.com/office/drawing/2014/main" id="{519ACE49-67C6-7794-A14E-8E5ED56F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>
            <a:extLst>
              <a:ext uri="{FF2B5EF4-FFF2-40B4-BE49-F238E27FC236}">
                <a16:creationId xmlns:a16="http://schemas.microsoft.com/office/drawing/2014/main" id="{A138F39A-2DEC-5CA3-B47C-80AB0B120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C1239829-68F5-1031-5917-0D4DC4BA2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83216B-A251-445B-8FD4-4A13D8F8753F}" type="datetimeFigureOut">
              <a:rPr lang="lv-LV" smtClean="0"/>
              <a:t>03.10.2026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D21A0525-82A6-33F1-A7CF-D19338C51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D6886E56-D5C5-C2A2-FF01-9A11DF8FB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14A0D0-0C29-42DC-A1C5-48EC45BC461F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390711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56D7694-E4CA-F98A-BD13-80F689F69A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noProof="0" dirty="0"/>
            </a:br>
            <a:r>
              <a:rPr lang="en-US" b="1" noProof="0" dirty="0" err="1"/>
              <a:t>AuraDB</a:t>
            </a:r>
            <a:r>
              <a:rPr lang="en-US" b="1" noProof="0" dirty="0"/>
              <a:t> Knowledge Graph Creation</a:t>
            </a:r>
            <a:endParaRPr lang="en-US" noProof="0" dirty="0"/>
          </a:p>
        </p:txBody>
      </p:sp>
      <p:sp>
        <p:nvSpPr>
          <p:cNvPr id="3" name="Apakšvirsraksts 2">
            <a:extLst>
              <a:ext uri="{FF2B5EF4-FFF2-40B4-BE49-F238E27FC236}">
                <a16:creationId xmlns:a16="http://schemas.microsoft.com/office/drawing/2014/main" id="{537B69BC-186A-1896-B310-23FB13A376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/>
              <a:t>Kārlis Dīriņš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090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41C3CDBE-9B0F-9F41-090F-E5D708D7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209" y="1918105"/>
            <a:ext cx="2766552" cy="2771882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lv-LV" sz="36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Knowledge</a:t>
            </a:r>
            <a:r>
              <a:rPr lang="lv-LV" sz="3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lv-LV" sz="36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Graph</a:t>
            </a:r>
            <a:r>
              <a:rPr lang="lv-LV" sz="3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Schema created in </a:t>
            </a:r>
            <a:r>
              <a:rPr lang="en-US" sz="36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AuraDB</a:t>
            </a:r>
            <a:endParaRPr lang="en-US" sz="36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Satura vietturis 4">
            <a:extLst>
              <a:ext uri="{FF2B5EF4-FFF2-40B4-BE49-F238E27FC236}">
                <a16:creationId xmlns:a16="http://schemas.microsoft.com/office/drawing/2014/main" id="{CEC9C872-F493-2366-7959-EA3E1050D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9630" y="0"/>
            <a:ext cx="6271691" cy="678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8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1230720A-7CB3-792A-D335-4AAA5395E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69580" cy="6216545"/>
          </a:xfrm>
        </p:spPr>
        <p:txBody>
          <a:bodyPr/>
          <a:lstStyle/>
          <a:p>
            <a:pPr algn="ctr"/>
            <a:r>
              <a:rPr lang="en-US" sz="6600" noProof="0" dirty="0"/>
              <a:t>Queries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7505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A4B9D5A-2178-E39B-A97F-7229640A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noProof="0" dirty="0"/>
              <a:t>Query 1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E738697A-AB84-5464-567E-BA870C1AD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4871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noProof="0" dirty="0"/>
              <a:t>The first query returns each study </a:t>
            </a:r>
            <a:r>
              <a:rPr lang="en-US" noProof="0" dirty="0" err="1"/>
              <a:t>programme</a:t>
            </a:r>
            <a:r>
              <a:rPr lang="en-US" noProof="0" dirty="0"/>
              <a:t> with its courses and includes the course ID, course title, credit points and course section.</a:t>
            </a:r>
            <a:endParaRPr lang="lv-LV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MATCH (</a:t>
            </a:r>
            <a:r>
              <a:rPr lang="en-US" noProof="0" dirty="0" err="1"/>
              <a:t>p:StudyProgram</a:t>
            </a:r>
            <a:r>
              <a:rPr lang="en-US" noProof="0" dirty="0"/>
              <a:t>)-[r]-&gt;(</a:t>
            </a:r>
            <a:r>
              <a:rPr lang="en-US" noProof="0" dirty="0" err="1"/>
              <a:t>c:StudyCourse</a:t>
            </a:r>
            <a:r>
              <a:rPr lang="en-US" noProof="0" dirty="0"/>
              <a:t>)</a:t>
            </a:r>
          </a:p>
          <a:p>
            <a:pPr marL="0" indent="0">
              <a:buNone/>
            </a:pPr>
            <a:r>
              <a:rPr lang="en-US" noProof="0" dirty="0"/>
              <a:t>RETURN    </a:t>
            </a:r>
          </a:p>
          <a:p>
            <a:pPr marL="0" indent="0">
              <a:buNone/>
            </a:pPr>
            <a:r>
              <a:rPr lang="en-US" noProof="0" dirty="0" err="1"/>
              <a:t>p.title</a:t>
            </a:r>
            <a:r>
              <a:rPr lang="en-US" noProof="0" dirty="0"/>
              <a:t> AS </a:t>
            </a:r>
            <a:r>
              <a:rPr lang="en-US" noProof="0" dirty="0" err="1"/>
              <a:t>Programme</a:t>
            </a:r>
            <a:r>
              <a:rPr lang="en-US" noProof="0" dirty="0"/>
              <a:t>,    </a:t>
            </a:r>
          </a:p>
          <a:p>
            <a:pPr marL="0" indent="0">
              <a:buNone/>
            </a:pPr>
            <a:r>
              <a:rPr lang="en-US" noProof="0" dirty="0" err="1"/>
              <a:t>c.course_id</a:t>
            </a:r>
            <a:r>
              <a:rPr lang="en-US" noProof="0" dirty="0"/>
              <a:t> AS </a:t>
            </a:r>
            <a:r>
              <a:rPr lang="en-US" noProof="0" dirty="0" err="1"/>
              <a:t>Course_ID</a:t>
            </a:r>
            <a:r>
              <a:rPr lang="en-US" noProof="0" dirty="0"/>
              <a:t>,   </a:t>
            </a:r>
          </a:p>
          <a:p>
            <a:pPr marL="0" indent="0">
              <a:buNone/>
            </a:pPr>
            <a:r>
              <a:rPr lang="en-US" noProof="0" dirty="0" err="1"/>
              <a:t>c.title</a:t>
            </a:r>
            <a:r>
              <a:rPr lang="en-US" noProof="0" dirty="0"/>
              <a:t> AS Course,    </a:t>
            </a:r>
          </a:p>
          <a:p>
            <a:pPr marL="0" indent="0">
              <a:buNone/>
            </a:pPr>
            <a:r>
              <a:rPr lang="en-US" noProof="0" dirty="0" err="1"/>
              <a:t>r.credit_points</a:t>
            </a:r>
            <a:r>
              <a:rPr lang="en-US" noProof="0" dirty="0"/>
              <a:t> AS </a:t>
            </a:r>
            <a:r>
              <a:rPr lang="en-US" noProof="0" dirty="0" err="1"/>
              <a:t>Credit_Points</a:t>
            </a:r>
            <a:r>
              <a:rPr lang="en-US" noProof="0" dirty="0"/>
              <a:t>,    </a:t>
            </a:r>
          </a:p>
          <a:p>
            <a:pPr marL="0" indent="0">
              <a:buNone/>
            </a:pPr>
            <a:r>
              <a:rPr lang="en-US" noProof="0" dirty="0" err="1"/>
              <a:t>r.section_name</a:t>
            </a:r>
            <a:r>
              <a:rPr lang="en-US" noProof="0" dirty="0"/>
              <a:t> AS Section</a:t>
            </a:r>
          </a:p>
          <a:p>
            <a:pPr marL="0" indent="0">
              <a:buNone/>
            </a:pPr>
            <a:r>
              <a:rPr lang="en-US" noProof="0" dirty="0"/>
              <a:t>ORDER BY </a:t>
            </a:r>
            <a:r>
              <a:rPr lang="en-US" noProof="0" dirty="0" err="1"/>
              <a:t>Programme</a:t>
            </a:r>
            <a:r>
              <a:rPr lang="en-US" noProof="0" dirty="0"/>
              <a:t>, Course;</a:t>
            </a:r>
          </a:p>
        </p:txBody>
      </p:sp>
    </p:spTree>
    <p:extLst>
      <p:ext uri="{BB962C8B-B14F-4D97-AF65-F5344CB8AC3E}">
        <p14:creationId xmlns:p14="http://schemas.microsoft.com/office/powerpoint/2010/main" val="3967492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E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185376CF-1444-3A09-63AC-90FE82967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Query 1 result</a:t>
            </a:r>
          </a:p>
        </p:txBody>
      </p:sp>
      <p:pic>
        <p:nvPicPr>
          <p:cNvPr id="5" name="Satura vietturis 4">
            <a:extLst>
              <a:ext uri="{FF2B5EF4-FFF2-40B4-BE49-F238E27FC236}">
                <a16:creationId xmlns:a16="http://schemas.microsoft.com/office/drawing/2014/main" id="{615461FB-192A-A4C8-943E-0845839F2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9548" y="447367"/>
            <a:ext cx="7316567" cy="5469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A48B74-6A8C-5F3F-0F51-1DBA36B9D2C1}"/>
              </a:ext>
            </a:extLst>
          </p:cNvPr>
          <p:cNvSpPr txBox="1"/>
          <p:nvPr/>
        </p:nvSpPr>
        <p:spPr>
          <a:xfrm>
            <a:off x="4129548" y="6040701"/>
            <a:ext cx="7757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Note: All returned records are not included in the screenshot as they would not fit</a:t>
            </a:r>
            <a:r>
              <a:rPr lang="lv-LV" noProof="0" dirty="0"/>
              <a:t> </a:t>
            </a:r>
            <a:r>
              <a:rPr lang="lv-LV" noProof="0" dirty="0" err="1"/>
              <a:t>in</a:t>
            </a:r>
            <a:r>
              <a:rPr lang="lv-LV" noProof="0" dirty="0"/>
              <a:t> </a:t>
            </a:r>
            <a:r>
              <a:rPr lang="lv-LV" noProof="0" dirty="0" err="1"/>
              <a:t>the</a:t>
            </a:r>
            <a:r>
              <a:rPr lang="lv-LV" noProof="0" dirty="0"/>
              <a:t> </a:t>
            </a:r>
            <a:r>
              <a:rPr lang="lv-LV" noProof="0" dirty="0" err="1"/>
              <a:t>screenshot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1099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3535F151-8641-19D8-3BA7-B99A467F9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noProof="0" dirty="0"/>
              <a:t>Query 2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26C50B48-83F9-7E4D-057B-9A35893D1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noProof="0" dirty="0"/>
              <a:t>Query 2 counts the number of topics for each course and displays the courses with the highest count of topics first.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MATCH (</a:t>
            </a:r>
            <a:r>
              <a:rPr lang="en-US" noProof="0" dirty="0" err="1"/>
              <a:t>c:StudyCourse</a:t>
            </a:r>
            <a:r>
              <a:rPr lang="en-US" noProof="0" dirty="0"/>
              <a:t>)-[:`has topic`]-&gt;(</a:t>
            </a:r>
            <a:r>
              <a:rPr lang="en-US" noProof="0" dirty="0" err="1"/>
              <a:t>t:CourseTopic</a:t>
            </a:r>
            <a:r>
              <a:rPr lang="en-US" noProof="0" dirty="0"/>
              <a:t>)</a:t>
            </a:r>
          </a:p>
          <a:p>
            <a:pPr marL="0" indent="0">
              <a:buNone/>
            </a:pPr>
            <a:r>
              <a:rPr lang="en-US" noProof="0" dirty="0"/>
              <a:t>RETURN    </a:t>
            </a:r>
          </a:p>
          <a:p>
            <a:pPr marL="0" indent="0">
              <a:buNone/>
            </a:pPr>
            <a:r>
              <a:rPr lang="en-US" noProof="0" dirty="0" err="1"/>
              <a:t>c.course_id</a:t>
            </a:r>
            <a:r>
              <a:rPr lang="en-US" noProof="0" dirty="0"/>
              <a:t> AS </a:t>
            </a:r>
            <a:r>
              <a:rPr lang="en-US" noProof="0" dirty="0" err="1"/>
              <a:t>Course_ID</a:t>
            </a:r>
            <a:r>
              <a:rPr lang="en-US" noProof="0" dirty="0"/>
              <a:t>,    </a:t>
            </a:r>
          </a:p>
          <a:p>
            <a:pPr marL="0" indent="0">
              <a:buNone/>
            </a:pPr>
            <a:r>
              <a:rPr lang="en-US" noProof="0" dirty="0" err="1"/>
              <a:t>c.title</a:t>
            </a:r>
            <a:r>
              <a:rPr lang="en-US" noProof="0" dirty="0"/>
              <a:t> AS Course,    </a:t>
            </a:r>
          </a:p>
          <a:p>
            <a:pPr marL="0" indent="0">
              <a:buNone/>
            </a:pPr>
            <a:r>
              <a:rPr lang="en-US" noProof="0" dirty="0"/>
              <a:t>count(t) AS </a:t>
            </a:r>
            <a:r>
              <a:rPr lang="en-US" noProof="0" dirty="0" err="1"/>
              <a:t>Number_of_Topics</a:t>
            </a: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ORDER BY </a:t>
            </a:r>
            <a:r>
              <a:rPr lang="en-US" noProof="0" dirty="0" err="1"/>
              <a:t>Number_of_Topics</a:t>
            </a:r>
            <a:r>
              <a:rPr lang="en-US" noProof="0" dirty="0"/>
              <a:t> DESC;</a:t>
            </a:r>
          </a:p>
        </p:txBody>
      </p:sp>
    </p:spTree>
    <p:extLst>
      <p:ext uri="{BB962C8B-B14F-4D97-AF65-F5344CB8AC3E}">
        <p14:creationId xmlns:p14="http://schemas.microsoft.com/office/powerpoint/2010/main" val="101961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67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B5450422-4C7D-8B95-F912-40AADA6C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Query 2 result</a:t>
            </a:r>
          </a:p>
        </p:txBody>
      </p:sp>
      <p:pic>
        <p:nvPicPr>
          <p:cNvPr id="5" name="Satura vietturis 4">
            <a:extLst>
              <a:ext uri="{FF2B5EF4-FFF2-40B4-BE49-F238E27FC236}">
                <a16:creationId xmlns:a16="http://schemas.microsoft.com/office/drawing/2014/main" id="{D4548E94-EB90-28EB-65DA-1DDE097E7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9548" y="88420"/>
            <a:ext cx="7422607" cy="58638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9ED32C-067B-2079-878C-263CB5E01794}"/>
              </a:ext>
            </a:extLst>
          </p:cNvPr>
          <p:cNvSpPr txBox="1"/>
          <p:nvPr/>
        </p:nvSpPr>
        <p:spPr>
          <a:xfrm>
            <a:off x="4129548" y="6040701"/>
            <a:ext cx="7757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Note: All returned records are not included in the screenshot as they would not fit</a:t>
            </a:r>
            <a:r>
              <a:rPr lang="lv-LV" noProof="0" dirty="0"/>
              <a:t> </a:t>
            </a:r>
            <a:r>
              <a:rPr lang="lv-LV" noProof="0" dirty="0" err="1"/>
              <a:t>in</a:t>
            </a:r>
            <a:r>
              <a:rPr lang="lv-LV" noProof="0" dirty="0"/>
              <a:t> </a:t>
            </a:r>
            <a:r>
              <a:rPr lang="lv-LV" noProof="0" dirty="0" err="1"/>
              <a:t>the</a:t>
            </a:r>
            <a:r>
              <a:rPr lang="lv-LV" noProof="0" dirty="0"/>
              <a:t> </a:t>
            </a:r>
            <a:r>
              <a:rPr lang="lv-LV" noProof="0" dirty="0" err="1"/>
              <a:t>screenshot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341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507576E-D6E7-10A6-0FF1-19DBA0DE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noProof="0" dirty="0"/>
              <a:t>Query 3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2E011805-8024-80AF-930D-8478479D1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noProof="0" dirty="0"/>
              <a:t>Query 3 retrieves all the topics for «Advanced Data Technologies» course and displays them in the defined order.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MATCH (</a:t>
            </a:r>
            <a:r>
              <a:rPr lang="en-US" noProof="0" dirty="0" err="1"/>
              <a:t>c:StudyCourse</a:t>
            </a:r>
            <a:r>
              <a:rPr lang="en-US" noProof="0" dirty="0"/>
              <a:t>)-[:`has topic`]-&gt;(</a:t>
            </a:r>
            <a:r>
              <a:rPr lang="en-US" noProof="0" dirty="0" err="1"/>
              <a:t>t:CourseTopic</a:t>
            </a:r>
            <a:r>
              <a:rPr lang="en-US" noProof="0" dirty="0"/>
              <a:t>)</a:t>
            </a:r>
          </a:p>
          <a:p>
            <a:pPr marL="0" indent="0">
              <a:buNone/>
            </a:pPr>
            <a:r>
              <a:rPr lang="en-US" noProof="0" dirty="0"/>
              <a:t>WHERE </a:t>
            </a:r>
            <a:r>
              <a:rPr lang="en-US" noProof="0" dirty="0" err="1"/>
              <a:t>c.course_id</a:t>
            </a:r>
            <a:r>
              <a:rPr lang="en-US" noProof="0" dirty="0"/>
              <a:t> = 'DE0745’</a:t>
            </a:r>
          </a:p>
          <a:p>
            <a:pPr marL="0" indent="0">
              <a:buNone/>
            </a:pPr>
            <a:r>
              <a:rPr lang="en-US" noProof="0" dirty="0"/>
              <a:t>RETURN    </a:t>
            </a:r>
            <a:r>
              <a:rPr lang="en-US" noProof="0" dirty="0" err="1"/>
              <a:t>c.course_id</a:t>
            </a:r>
            <a:r>
              <a:rPr lang="en-US" noProof="0" dirty="0"/>
              <a:t> AS </a:t>
            </a:r>
            <a:r>
              <a:rPr lang="en-US" noProof="0" dirty="0" err="1"/>
              <a:t>Course_ID</a:t>
            </a:r>
            <a:r>
              <a:rPr lang="en-US" noProof="0" dirty="0"/>
              <a:t>,    </a:t>
            </a:r>
          </a:p>
          <a:p>
            <a:pPr marL="0" indent="0">
              <a:buNone/>
            </a:pPr>
            <a:r>
              <a:rPr lang="en-US" noProof="0" dirty="0" err="1"/>
              <a:t>c.title</a:t>
            </a:r>
            <a:r>
              <a:rPr lang="en-US" noProof="0" dirty="0"/>
              <a:t> AS Course,    </a:t>
            </a:r>
          </a:p>
          <a:p>
            <a:pPr marL="0" indent="0">
              <a:buNone/>
            </a:pPr>
            <a:r>
              <a:rPr lang="en-US" noProof="0" dirty="0" err="1"/>
              <a:t>t.ordinal</a:t>
            </a:r>
            <a:r>
              <a:rPr lang="en-US" noProof="0" dirty="0"/>
              <a:t> AS </a:t>
            </a:r>
            <a:r>
              <a:rPr lang="en-US" noProof="0" dirty="0" err="1"/>
              <a:t>Topic_Number</a:t>
            </a:r>
            <a:r>
              <a:rPr lang="en-US" noProof="0" dirty="0"/>
              <a:t>,   </a:t>
            </a:r>
          </a:p>
          <a:p>
            <a:pPr marL="0" indent="0">
              <a:buNone/>
            </a:pPr>
            <a:r>
              <a:rPr lang="en-US" noProof="0" dirty="0" err="1"/>
              <a:t>t.title</a:t>
            </a:r>
            <a:r>
              <a:rPr lang="en-US" noProof="0" dirty="0"/>
              <a:t> AS Topic</a:t>
            </a:r>
          </a:p>
          <a:p>
            <a:pPr marL="0" indent="0">
              <a:buNone/>
            </a:pPr>
            <a:r>
              <a:rPr lang="en-US" noProof="0" dirty="0"/>
              <a:t>ORDER BY </a:t>
            </a:r>
            <a:r>
              <a:rPr lang="en-US" noProof="0" dirty="0" err="1"/>
              <a:t>t.ordinal</a:t>
            </a:r>
            <a:r>
              <a:rPr lang="en-US" noProof="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35391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A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CC74E653-CF7A-88DD-3C6C-54017F95B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Query 3 result</a:t>
            </a:r>
          </a:p>
        </p:txBody>
      </p:sp>
      <p:pic>
        <p:nvPicPr>
          <p:cNvPr id="5" name="Satura vietturis 4">
            <a:extLst>
              <a:ext uri="{FF2B5EF4-FFF2-40B4-BE49-F238E27FC236}">
                <a16:creationId xmlns:a16="http://schemas.microsoft.com/office/drawing/2014/main" id="{49AFE799-C93B-2CF1-63C3-0F46C9483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559" y="593950"/>
            <a:ext cx="7847888" cy="56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69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C649A0D7-BA17-76F8-C122-14198DFA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noProof="0" dirty="0"/>
              <a:t>Query 4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F9A56F4E-7C18-C3F7-9597-D55D7B3E5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noProof="0" dirty="0"/>
              <a:t>Query 4 retrieves all the learning outcomes for «Advanced Data Technologies» course and displays them in the defined order.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MATCH (</a:t>
            </a:r>
            <a:r>
              <a:rPr lang="en-US" noProof="0" dirty="0" err="1"/>
              <a:t>c:StudyCourse</a:t>
            </a:r>
            <a:r>
              <a:rPr lang="en-US" noProof="0" dirty="0"/>
              <a:t>)-[:`has learning outcome`]-&gt;(</a:t>
            </a:r>
            <a:r>
              <a:rPr lang="en-US" noProof="0" dirty="0" err="1"/>
              <a:t>lo:LearningOutcome</a:t>
            </a:r>
            <a:r>
              <a:rPr lang="en-US" noProof="0" dirty="0"/>
              <a:t>)</a:t>
            </a:r>
          </a:p>
          <a:p>
            <a:pPr marL="0" indent="0">
              <a:buNone/>
            </a:pPr>
            <a:r>
              <a:rPr lang="en-US" noProof="0" dirty="0"/>
              <a:t>WHERE </a:t>
            </a:r>
            <a:r>
              <a:rPr lang="en-US" noProof="0" dirty="0" err="1"/>
              <a:t>c.course_id</a:t>
            </a:r>
            <a:r>
              <a:rPr lang="en-US" noProof="0" dirty="0"/>
              <a:t> = 'DE0745’</a:t>
            </a:r>
          </a:p>
          <a:p>
            <a:pPr marL="0" indent="0">
              <a:buNone/>
            </a:pPr>
            <a:r>
              <a:rPr lang="en-US" noProof="0" dirty="0"/>
              <a:t>RETURN    </a:t>
            </a:r>
            <a:r>
              <a:rPr lang="en-US" noProof="0" dirty="0" err="1"/>
              <a:t>c.course_id</a:t>
            </a:r>
            <a:r>
              <a:rPr lang="en-US" noProof="0" dirty="0"/>
              <a:t> AS </a:t>
            </a:r>
            <a:r>
              <a:rPr lang="en-US" noProof="0" dirty="0" err="1"/>
              <a:t>Course_ID</a:t>
            </a:r>
            <a:r>
              <a:rPr lang="en-US" noProof="0" dirty="0"/>
              <a:t>,    </a:t>
            </a:r>
          </a:p>
          <a:p>
            <a:pPr marL="0" indent="0">
              <a:buNone/>
            </a:pPr>
            <a:r>
              <a:rPr lang="en-US" noProof="0" dirty="0" err="1"/>
              <a:t>c.title</a:t>
            </a:r>
            <a:r>
              <a:rPr lang="en-US" noProof="0" dirty="0"/>
              <a:t> AS Course,    </a:t>
            </a:r>
          </a:p>
          <a:p>
            <a:pPr marL="0" indent="0">
              <a:buNone/>
            </a:pPr>
            <a:r>
              <a:rPr lang="en-US" noProof="0" dirty="0" err="1"/>
              <a:t>lo.ordinal</a:t>
            </a:r>
            <a:r>
              <a:rPr lang="en-US" noProof="0" dirty="0"/>
              <a:t> AS </a:t>
            </a:r>
            <a:r>
              <a:rPr lang="en-US" noProof="0" dirty="0" err="1"/>
              <a:t>Outcome_Number</a:t>
            </a:r>
            <a:r>
              <a:rPr lang="en-US" noProof="0" dirty="0"/>
              <a:t>,    </a:t>
            </a:r>
          </a:p>
          <a:p>
            <a:pPr marL="0" indent="0">
              <a:buNone/>
            </a:pPr>
            <a:r>
              <a:rPr lang="en-US" noProof="0" dirty="0" err="1"/>
              <a:t>lo.text</a:t>
            </a:r>
            <a:r>
              <a:rPr lang="en-US" noProof="0" dirty="0"/>
              <a:t> AS </a:t>
            </a:r>
            <a:r>
              <a:rPr lang="en-US" noProof="0" dirty="0" err="1"/>
              <a:t>Learning_Outcome</a:t>
            </a: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ORDER BY </a:t>
            </a:r>
            <a:r>
              <a:rPr lang="en-US" noProof="0" dirty="0" err="1"/>
              <a:t>lo.ordinal</a:t>
            </a:r>
            <a:r>
              <a:rPr lang="en-US" noProof="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10278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73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67EB9452-3037-64A8-294F-857291416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Query 4 result</a:t>
            </a:r>
          </a:p>
        </p:txBody>
      </p:sp>
      <p:pic>
        <p:nvPicPr>
          <p:cNvPr id="5" name="Satura vietturis 4">
            <a:extLst>
              <a:ext uri="{FF2B5EF4-FFF2-40B4-BE49-F238E27FC236}">
                <a16:creationId xmlns:a16="http://schemas.microsoft.com/office/drawing/2014/main" id="{D50D9B4F-65E2-DBA8-35CB-1C4F51B24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2523" y="0"/>
            <a:ext cx="6896484" cy="4930987"/>
          </a:xfrm>
          <a:prstGeom prst="rect">
            <a:avLst/>
          </a:prstGeom>
        </p:spPr>
      </p:pic>
      <p:pic>
        <p:nvPicPr>
          <p:cNvPr id="7" name="Attēls 6">
            <a:extLst>
              <a:ext uri="{FF2B5EF4-FFF2-40B4-BE49-F238E27FC236}">
                <a16:creationId xmlns:a16="http://schemas.microsoft.com/office/drawing/2014/main" id="{EB2098D3-3015-771F-7760-93DA0E9CC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523" y="4930987"/>
            <a:ext cx="6896484" cy="15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38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6BD3AA05-7374-4E07-2063-0FA2BEC4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71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dizain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391</Words>
  <Application>Microsoft Office PowerPoint</Application>
  <PresentationFormat>Platekrāna</PresentationFormat>
  <Paragraphs>51</Paragraphs>
  <Slides>12</Slides>
  <Notes>0</Notes>
  <HiddenSlides>0</HiddenSlides>
  <MMClips>0</MMClips>
  <ScaleCrop>false</ScaleCrop>
  <HeadingPairs>
    <vt:vector size="6" baseType="variant">
      <vt:variant>
        <vt:lpstr>Lietotie fonti</vt:lpstr>
      </vt:variant>
      <vt:variant>
        <vt:i4>3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dizains</vt:lpstr>
      <vt:lpstr> AuraDB Knowledge Graph Creation</vt:lpstr>
      <vt:lpstr>Knowledge Graph Schema created in AuraDB</vt:lpstr>
      <vt:lpstr>Queries</vt:lpstr>
      <vt:lpstr>Query 1</vt:lpstr>
      <vt:lpstr>Query 1 result</vt:lpstr>
      <vt:lpstr>Query 2</vt:lpstr>
      <vt:lpstr>Query 2 result</vt:lpstr>
      <vt:lpstr>Query 3</vt:lpstr>
      <vt:lpstr>Query 3 result</vt:lpstr>
      <vt:lpstr>Query 4</vt:lpstr>
      <vt:lpstr>Query 4 result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Kārlis Dīriņš</dc:creator>
  <cp:lastModifiedBy>Kārlis Dīriņš</cp:lastModifiedBy>
  <cp:revision>2</cp:revision>
  <dcterms:created xsi:type="dcterms:W3CDTF">2026-10-03T13:26:20Z</dcterms:created>
  <dcterms:modified xsi:type="dcterms:W3CDTF">2026-10-03T14:48:26Z</dcterms:modified>
</cp:coreProperties>
</file>